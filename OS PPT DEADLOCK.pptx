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28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7CFAB-0A33-6D8B-B06C-E156EA05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E6B1F-C215-A6A1-7EE6-1B6447B23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E0962-3C06-010E-5DC5-25629D2EA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56383-D12E-02C6-5082-1AFCBF6400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4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01A3A">
              <a:alpha val="70000"/>
            </a:srgbClr>
          </a:solidFill>
          <a:ln w="12700">
            <a:solidFill>
              <a:srgbClr val="001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502920"/>
            <a:ext cx="3108960" cy="347472"/>
          </a:xfrm>
          <a:prstGeom prst="rect">
            <a:avLst/>
          </a:prstGeom>
          <a:solidFill>
            <a:srgbClr val="001A30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502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v2.4.1  ·  BANKER'S ALGORITHM ENGINE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10058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deadlock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097280" y="2194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B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.sim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 &amp; Resource Allocation Simulator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45920" y="37490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D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safe states and resource allocation using Dijkstra's Banker's Algorithm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8408" y="4480560"/>
            <a:ext cx="1645920" cy="292608"/>
          </a:xfrm>
          <a:prstGeom prst="rect">
            <a:avLst/>
          </a:prstGeom>
          <a:solidFill>
            <a:srgbClr val="001830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Concepts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25496" y="4480560"/>
            <a:ext cx="1645920" cy="292608"/>
          </a:xfrm>
          <a:prstGeom prst="rect">
            <a:avLst/>
          </a:prstGeom>
          <a:solidFill>
            <a:srgbClr val="001830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25496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Banker's Algorithm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72584" y="4480560"/>
            <a:ext cx="1645920" cy="292608"/>
          </a:xfrm>
          <a:prstGeom prst="rect">
            <a:avLst/>
          </a:prstGeom>
          <a:solidFill>
            <a:srgbClr val="001830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72584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 Prevention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19672" y="4480560"/>
            <a:ext cx="1645920" cy="292608"/>
          </a:xfrm>
          <a:prstGeom prst="rect">
            <a:avLst/>
          </a:prstGeom>
          <a:solidFill>
            <a:srgbClr val="001830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HTML File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Deadlock?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deadlock occurs when a set of processes are permanently blocked, each waiting for a resource held by another.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402336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03120"/>
            <a:ext cx="54864" cy="54864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1396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377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held by only one process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761488"/>
            <a:ext cx="402336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761488"/>
            <a:ext cx="54864" cy="54864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6148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798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&amp; Wait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0358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holds while waiting for more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419856"/>
            <a:ext cx="402336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19856"/>
            <a:ext cx="54864" cy="54864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19856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456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6941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can't be forcibly taken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78224"/>
            <a:ext cx="402336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78224"/>
            <a:ext cx="54864" cy="54864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78224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4114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43525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chain of waiting processes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280160"/>
            <a:ext cx="393192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CIRCULAR WAIT EXAMPLE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1874520"/>
            <a:ext cx="594360" cy="594360"/>
          </a:xfrm>
          <a:prstGeom prst="ellipse">
            <a:avLst/>
          </a:prstGeom>
          <a:solidFill>
            <a:srgbClr val="001830"/>
          </a:solidFill>
          <a:ln w="25400">
            <a:solidFill>
              <a:srgbClr val="00B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32320" y="1874520"/>
            <a:ext cx="594360" cy="594360"/>
          </a:xfrm>
          <a:prstGeom prst="ellipse">
            <a:avLst/>
          </a:prstGeom>
          <a:solidFill>
            <a:srgbClr val="001830"/>
          </a:solidFill>
          <a:ln w="25400">
            <a:solidFill>
              <a:srgbClr val="00B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32320" y="3063240"/>
            <a:ext cx="594360" cy="594360"/>
          </a:xfrm>
          <a:prstGeom prst="ellipse">
            <a:avLst/>
          </a:prstGeom>
          <a:solidFill>
            <a:srgbClr val="001830"/>
          </a:solidFill>
          <a:ln w="25400">
            <a:solidFill>
              <a:srgbClr val="00B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0" y="3063240"/>
            <a:ext cx="594360" cy="594360"/>
          </a:xfrm>
          <a:prstGeom prst="ellipse">
            <a:avLst/>
          </a:prstGeom>
          <a:solidFill>
            <a:srgbClr val="001830"/>
          </a:solidFill>
          <a:ln w="25400">
            <a:solidFill>
              <a:srgbClr val="00B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46520" y="1828800"/>
            <a:ext cx="548640" cy="548640"/>
          </a:xfrm>
          <a:prstGeom prst="rect">
            <a:avLst/>
          </a:prstGeom>
          <a:solidFill>
            <a:srgbClr val="200030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3017520"/>
            <a:ext cx="548640" cy="548640"/>
          </a:xfrm>
          <a:prstGeom prst="rect">
            <a:avLst/>
          </a:prstGeom>
          <a:solidFill>
            <a:srgbClr val="200030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All processes waiting → System halted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BANKER'S ALGORITHM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640080"/>
          </a:xfrm>
          <a:prstGeom prst="rect">
            <a:avLst/>
          </a:prstGeom>
          <a:solidFill>
            <a:srgbClr val="0A0020"/>
          </a:solidFill>
          <a:ln w="19050">
            <a:solidFill>
              <a:srgbClr val="7C3AED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 =  Max  −  Allocation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41605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48840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" y="2240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Need Matrix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Need[i][j] = Max[i][j] − Allocation[i][j] for every process and resource.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41605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148840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2402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21808" y="2240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Work Vector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 = Available. This represents currently free resources in the system.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41605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20440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118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6968" y="3611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Safe Sequence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process Pi where Need[i] ≤ Work. Execute it, release resources: Work += Alloc[i].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520440"/>
            <a:ext cx="41605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520440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6118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1808" y="3611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Safety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processes complete → SAFE STATE. Otherwise → DEADLOCK DETECTED.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4663440"/>
            <a:ext cx="2194560" cy="292608"/>
          </a:xfrm>
          <a:prstGeom prst="rect">
            <a:avLst/>
          </a:prstGeom>
          <a:solidFill>
            <a:srgbClr val="0A00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4663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Complexity:  O(P² × R)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WORKED EXAMPLE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Processes · 3 Resources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2743200" cy="2743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8408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36776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5144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27432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78408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36776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95144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249424"/>
            <a:ext cx="2743200" cy="402336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36776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95144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27432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36776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95144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054096"/>
            <a:ext cx="2743200" cy="402336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8408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36776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95144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456432"/>
            <a:ext cx="27432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36776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95144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64408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DEMAND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64408" y="1572768"/>
            <a:ext cx="2743200" cy="2743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22776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81144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39512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64408" y="1847088"/>
            <a:ext cx="27432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22776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81144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39512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64408" y="2249424"/>
            <a:ext cx="2743200" cy="402336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64408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22776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81144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39512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64408" y="2651760"/>
            <a:ext cx="27432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64408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922776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81144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39512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264408" y="3054096"/>
            <a:ext cx="2743200" cy="402336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64408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922776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81144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39512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264408" y="3456432"/>
            <a:ext cx="27432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64408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922776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581144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239512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208776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(Max − Alloc)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08776" y="1572768"/>
            <a:ext cx="2743200" cy="2743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08776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67144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525512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83880" y="1572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08776" y="1847088"/>
            <a:ext cx="27432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08776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867144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525512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8183880" y="184708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208776" y="2249424"/>
            <a:ext cx="2743200" cy="402336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08776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867144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7525512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8183880" y="2249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208776" y="2651760"/>
            <a:ext cx="27432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08776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867144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7525512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8183880" y="26517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208776" y="3054096"/>
            <a:ext cx="2743200" cy="402336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08776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867144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7525512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8183880" y="30540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208776" y="3456432"/>
            <a:ext cx="27432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08776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6867144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7525512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8183880" y="3456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320040" y="4133088"/>
            <a:ext cx="27432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320040" y="4160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20040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R0: 3   R1: 3   R2: 2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3474720" y="4133088"/>
            <a:ext cx="5349240" cy="658368"/>
          </a:xfrm>
          <a:prstGeom prst="rect">
            <a:avLst/>
          </a:prstGeom>
          <a:solidFill>
            <a:srgbClr val="001A0A"/>
          </a:solidFill>
          <a:ln w="19050">
            <a:solidFill>
              <a:srgbClr val="00FFA3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3474720" y="416052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SEQUENCE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3474720" y="43708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 →  P3  →  P4  →  P0  →  P2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SIMULATOR INTERFACE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deadlock.sim —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69748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697480" cy="54864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PANEL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2203704"/>
            <a:ext cx="91440" cy="9144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0848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2606040"/>
            <a:ext cx="91440" cy="9144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" y="3008376"/>
            <a:ext cx="91440" cy="9144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895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3410712"/>
            <a:ext cx="91440" cy="9144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2918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Stylize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94176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" y="3813048"/>
            <a:ext cx="91440" cy="9144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6941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1280160"/>
            <a:ext cx="269748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1280160"/>
            <a:ext cx="26974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1371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 PANEL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16459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83280" y="2084832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7288" y="220370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20848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Processes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2487168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47288" y="260604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Resources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2889504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47288" y="300837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93592" y="28895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Matrix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83280" y="3291840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47288" y="341071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93592" y="32918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Demand Matrix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83280" y="3694176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47288" y="381304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93592" y="36941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Resources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83280" y="4096512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47288" y="421538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93592" y="40965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Simulation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1280160"/>
            <a:ext cx="269748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1280160"/>
            <a:ext cx="2697480" cy="54864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1371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PANEL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16459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309360" y="2084832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73368" y="2203704"/>
            <a:ext cx="91440" cy="9144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9672" y="20848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Sequence output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09360" y="2487168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73368" y="2606040"/>
            <a:ext cx="91440" cy="9144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9672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Warning (red)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09360" y="2889504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73368" y="3008376"/>
            <a:ext cx="91440" cy="9144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9672" y="28895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UNSAFE status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09360" y="3291840"/>
            <a:ext cx="2423160" cy="329184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73368" y="3410712"/>
            <a:ext cx="91440" cy="9144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19672" y="32918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Log Console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560320" y="4681728"/>
            <a:ext cx="4023360" cy="27432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0" y="4681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HTML File  ·  No Installation  ·  Fully Browser-Based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160520" cy="54864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81912"/>
            <a:ext cx="347472" cy="347472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270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18196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E44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 for the full dashboard layout and panel structure.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6052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17320"/>
            <a:ext cx="4160520" cy="54864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581912"/>
            <a:ext cx="347472" cy="347472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15270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21808" y="18196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5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Glassmorphism, animations, grid/flexbox, responsive design.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6052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4160520" cy="5486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82112"/>
            <a:ext cx="347472" cy="3474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1272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6968" y="34198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 &amp; Algorithm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7307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Algorithm, DOM manipulation, dynamic matrix generation.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16052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017520"/>
            <a:ext cx="416052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182112"/>
            <a:ext cx="347472" cy="3474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31272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21808" y="34198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7307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Grotesk + JetBrains Mono for premium UI typography.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645152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451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51560" y="4645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4645152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46451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200400" y="4645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4645152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46451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O(P²R)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49240" y="4645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4645152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46451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∞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98080" y="4645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Inputs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001A3A">
              <a:alpha val="60000"/>
            </a:srgbClr>
          </a:solidFill>
          <a:ln w="12700">
            <a:solidFill>
              <a:srgbClr val="001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CONCLUSION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914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deadlock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1097280" y="16916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B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.sim</a:t>
            </a:r>
            <a:endParaRPr lang="en-US" sz="6000" dirty="0"/>
          </a:p>
        </p:txBody>
      </p:sp>
      <p:sp>
        <p:nvSpPr>
          <p:cNvPr id="26" name="Shape 24"/>
          <p:cNvSpPr/>
          <p:nvPr/>
        </p:nvSpPr>
        <p:spPr>
          <a:xfrm>
            <a:off x="731520" y="2770632"/>
            <a:ext cx="128016" cy="128016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deadlocks using Banker's Safety Algorithm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319272"/>
            <a:ext cx="128016" cy="128016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generates matrices for up to 10P × 8R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770632"/>
            <a:ext cx="128016" cy="128016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safe sequence or deadlock warning in real time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319272"/>
            <a:ext cx="128016" cy="128016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— no frameworks, no installation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deadlock.sim  ·  Deadlock Detection &amp; Resource Allocation Simulator  ·  Banker's Algorithm  ·  Dijkstra 1965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D4E72-FB55-CB07-7801-3CCA0FB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667990-5758-415F-CFF8-F73CD42EBB45}"/>
              </a:ext>
            </a:extLst>
          </p:cNvPr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EF36BE-2AD1-69CD-CEE8-BA0206222E35}"/>
              </a:ext>
            </a:extLst>
          </p:cNvPr>
          <p:cNvSpPr/>
          <p:nvPr/>
        </p:nvSpPr>
        <p:spPr>
          <a:xfrm>
            <a:off x="7772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71FF20-2233-2C38-C5D2-5C136739E346}"/>
              </a:ext>
            </a:extLst>
          </p:cNvPr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C696268-63EC-86EB-82AC-13E52D2D712B}"/>
              </a:ext>
            </a:extLst>
          </p:cNvPr>
          <p:cNvSpPr/>
          <p:nvPr/>
        </p:nvSpPr>
        <p:spPr>
          <a:xfrm>
            <a:off x="23317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FA22896-AD03-CA7E-E294-A3A1686D9E98}"/>
              </a:ext>
            </a:extLst>
          </p:cNvPr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242501-68A0-B992-2D9B-E6B87B0C6423}"/>
              </a:ext>
            </a:extLst>
          </p:cNvPr>
          <p:cNvSpPr/>
          <p:nvPr/>
        </p:nvSpPr>
        <p:spPr>
          <a:xfrm>
            <a:off x="3886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D23D881-DE1B-D996-E5F8-88628AF75872}"/>
              </a:ext>
            </a:extLst>
          </p:cNvPr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CACE659-6789-F308-A77E-4F36E132ED7F}"/>
              </a:ext>
            </a:extLst>
          </p:cNvPr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C251A94-91F4-68C5-42F9-924900CBFE2E}"/>
              </a:ext>
            </a:extLst>
          </p:cNvPr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7A8019A-4945-7FAA-970E-FF9B41A29ECE}"/>
              </a:ext>
            </a:extLst>
          </p:cNvPr>
          <p:cNvSpPr/>
          <p:nvPr/>
        </p:nvSpPr>
        <p:spPr>
          <a:xfrm>
            <a:off x="69951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2F4C733-E466-6733-E81A-AA740D93543F}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83FB31B-5566-31A6-D628-DB76A6D128CD}"/>
              </a:ext>
            </a:extLst>
          </p:cNvPr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6B8B031-59FB-405A-8017-C517C27606F5}"/>
              </a:ext>
            </a:extLst>
          </p:cNvPr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B51AF71-FD02-AF91-2BBC-6F3FA3E5AF5A}"/>
              </a:ext>
            </a:extLst>
          </p:cNvPr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4827F32-8BA6-295B-AE25-8E8790085EBF}"/>
              </a:ext>
            </a:extLst>
          </p:cNvPr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0D7D617-C379-CAF9-AA84-16C24B506CA1}"/>
              </a:ext>
            </a:extLst>
          </p:cNvPr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72F53E2-91FD-CE2D-B4AA-0378575C89D4}"/>
              </a:ext>
            </a:extLst>
          </p:cNvPr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CAE4234-4176-9440-5CC6-7300242D293E}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58987F6-ACE0-26FB-5135-B7374D80510C}"/>
              </a:ext>
            </a:extLst>
          </p:cNvPr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769C456-587B-29EF-FE16-54043A0CBBFA}"/>
              </a:ext>
            </a:extLst>
          </p:cNvPr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C1B818B-40CD-3E43-2F9A-7176615CBE52}"/>
              </a:ext>
            </a:extLst>
          </p:cNvPr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001A3A">
              <a:alpha val="60000"/>
            </a:srgbClr>
          </a:solidFill>
          <a:ln w="12700">
            <a:solidFill>
              <a:srgbClr val="001A3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BDF29FE-4DBD-12D9-16EE-3906AE6B641B}"/>
              </a:ext>
            </a:extLst>
          </p:cNvPr>
          <p:cNvSpPr/>
          <p:nvPr/>
        </p:nvSpPr>
        <p:spPr>
          <a:xfrm>
            <a:off x="1097280" y="914399"/>
            <a:ext cx="6949440" cy="3246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</a:rPr>
              <a:t>THANK </a:t>
            </a:r>
          </a:p>
          <a:p>
            <a:pPr marL="0" indent="0" algn="ctr">
              <a:buNone/>
            </a:pPr>
            <a: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</a:rPr>
              <a:t>YOU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2420030600      B.SIDHARTH REDDY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2420030195      S.ABHILASH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2420030271      R.HARSHIT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2420030165      T. DEVI PRASAD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545813F-096A-D542-13CB-5A7A7E26F9F7}"/>
              </a:ext>
            </a:extLst>
          </p:cNvPr>
          <p:cNvSpPr/>
          <p:nvPr/>
        </p:nvSpPr>
        <p:spPr>
          <a:xfrm>
            <a:off x="2057401" y="1691641"/>
            <a:ext cx="5989318" cy="77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B72A038-67B6-B3D9-6509-D160520CF834}"/>
              </a:ext>
            </a:extLst>
          </p:cNvPr>
          <p:cNvSpPr/>
          <p:nvPr/>
        </p:nvSpPr>
        <p:spPr>
          <a:xfrm>
            <a:off x="93268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A0B46F7-7002-B584-0B85-112AA1A00A9A}"/>
              </a:ext>
            </a:extLst>
          </p:cNvPr>
          <p:cNvSpPr/>
          <p:nvPr/>
        </p:nvSpPr>
        <p:spPr>
          <a:xfrm>
            <a:off x="932688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1857EF3-3D09-FAD9-8429-1C653EA72FD5}"/>
              </a:ext>
            </a:extLst>
          </p:cNvPr>
          <p:cNvSpPr/>
          <p:nvPr/>
        </p:nvSpPr>
        <p:spPr>
          <a:xfrm>
            <a:off x="495604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B5CC861-5A25-4E16-8552-564C1EE458B3}"/>
              </a:ext>
            </a:extLst>
          </p:cNvPr>
          <p:cNvSpPr/>
          <p:nvPr/>
        </p:nvSpPr>
        <p:spPr>
          <a:xfrm>
            <a:off x="4956048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71AB3D1-8F0D-0BC6-492C-E923EEF5403C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D423306-8C7E-E9BF-ABF7-8D25356D176D}"/>
              </a:ext>
            </a:extLst>
          </p:cNvPr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0A77FE2-33C8-9AF4-D82A-563774425568}"/>
              </a:ext>
            </a:extLst>
          </p:cNvPr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deadlock.sim  ·  Deadlock Detection &amp; Resource Allocation Simulator  ·  Banker's Algorithm  ·  Dijkstra 1965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057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568</Words>
  <Application>Microsoft Office PowerPoint</Application>
  <PresentationFormat>On-screen Show (16:9)</PresentationFormat>
  <Paragraphs>195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deadlock.sim</dc:title>
  <dc:subject>PptxGenJS Presentation</dc:subject>
  <dc:creator>PptxGenJS</dc:creator>
  <cp:lastModifiedBy>Devi Prasad</cp:lastModifiedBy>
  <cp:revision>2</cp:revision>
  <dcterms:created xsi:type="dcterms:W3CDTF">2026-03-30T03:49:13Z</dcterms:created>
  <dcterms:modified xsi:type="dcterms:W3CDTF">2026-04-27T18:02:44Z</dcterms:modified>
</cp:coreProperties>
</file>